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ed Hat Display SemiBold"/>
      <p:regular r:id="rId201314"/>
    </p:embeddedFont>
    <p:embeddedFont>
      <p:font typeface="Red Hat Display Bold"/>
      <p:regular r:id="rId201315"/>
    </p:embeddedFont>
    <p:embeddedFont>
      <p:font typeface="Red Hat Text Medium"/>
      <p:regular r:id="rId201316"/>
    </p:embeddedFont>
    <p:embeddedFont>
      <p:font typeface="Red Hat Text Bold"/>
      <p:regular r:id="rId201317"/>
    </p:embeddedFont>
    <p:embeddedFont>
      <p:font typeface="Red Hat Text"/>
      <p:regular r:id="rId201318"/>
    </p:embeddedFont>
    <p:embeddedFont>
      <p:font typeface="Roboto Slab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TaskBoard capstone project: taking raw application source through automated verification, packaging, and GitOps-driven deployment into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code functionality is only half the battle. Emphasize automation, repeatability, traceability, and consistency across both frontend and backend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strict separation: GitHub Actions validates and deploys to its workflow's temporary Kind cluster; Argo CD reconciles Git state in the distinct local Kind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distinct roles of the frontend, backend, and delivery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multi-stage build pattern: Node is discarded after building frontend assets; Nginx Alpine serves them; Python slim runs backend; GHCR uses commit SHA tags for absolute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DevSecOps principles are applied in practice: tests run first, security scans gate image creation, Trivy scans built images, and only clean builds proceed to ephemeral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Kubernetes resources managed by the Helm chart. Clarify that optional chart configuration is not claimed as enabled: Ingress, Horizontal Pod Autoscaling, and Prometheus ServiceMonitor.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GitOps reconciliation: Git is the source of desired state, Argo CD compares it with the live cluster, and the Argo CD Kind cluster is separate from the CI workflow's temporary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evidence gallery clearly: the three task-board states show the To Do, In Progress and Completed frames; the pytest result and the API health check are shown in the lower row without fabricating log text or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honest engineering evaluation: summarize technical hurdles solved during networking and templating, clearly delineate verified scope vs. future cloud extensions, and wrap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e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0611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534187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06111E">
              <a:alpha val="4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0383" y="616585"/>
            <a:ext cx="787380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DEVOPS &amp; DEVSECOPS CAPSTONE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0383" y="4093766"/>
            <a:ext cx="728961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12" kern="100" dirty="0">
                <a:solidFill>
                  <a:srgbClr val="FFFFFF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TaskBoard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60383" y="4924883"/>
            <a:ext cx="728961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From Application Code to Automated Kubernetes Deployment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0383" y="5695633"/>
            <a:ext cx="787380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Automating application delivery with CI/CD, Docker, Kubernetes, Helm and Argo CD.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0383" y="6115923"/>
            <a:ext cx="787380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[Student Name] · [Institution] · [Course or Subject] · Mentor: [Faculty/Mentor] · [Submission Date]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34187" y="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609585" y="1371600"/>
                </a:lnTo>
                <a:arcTo hR="609600" wR="609585" stAng="5400000" swAng="5400000"/>
                <a:lnTo>
                  <a:pt x="0" y="0"/>
                </a:lnTo>
                <a:close/>
              </a:path>
            </a:pathLst>
          </a:custGeom>
          <a:solidFill>
            <a:srgbClr val="35BCC8"/>
          </a:solidFill>
          <a:ln/>
        </p:spPr>
      </p:sp>
      <p:sp>
        <p:nvSpPr>
          <p:cNvPr id="11" name="Shape 8"/>
          <p:cNvSpPr/>
          <p:nvPr/>
        </p:nvSpPr>
        <p:spPr>
          <a:xfrm>
            <a:off x="9753356" y="0"/>
            <a:ext cx="1219170" cy="1371600"/>
          </a:xfrm>
          <a:prstGeom prst="rect">
            <a:avLst/>
          </a:prstGeom>
          <a:solidFill>
            <a:srgbClr val="0B1D30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526" y="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609585" y="0"/>
                </a:lnTo>
                <a:arcTo hR="609600" wR="609585" stAng="16200000" swAng="5400000"/>
                <a:lnTo>
                  <a:pt x="121917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FF7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8534187" y="1371600"/>
            <a:ext cx="1219170" cy="1371600"/>
          </a:xfrm>
          <a:prstGeom prst="rect">
            <a:avLst/>
          </a:prstGeom>
          <a:solidFill>
            <a:srgbClr val="15324B"/>
          </a:solidFill>
          <a:ln/>
        </p:spPr>
      </p:sp>
      <p:sp>
        <p:nvSpPr>
          <p:cNvPr id="14" name="Shape 11"/>
          <p:cNvSpPr/>
          <p:nvPr/>
        </p:nvSpPr>
        <p:spPr>
          <a:xfrm>
            <a:off x="9753356" y="1371600"/>
            <a:ext cx="1219170" cy="1371600"/>
          </a:xfrm>
          <a:prstGeom prst="rect">
            <a:avLst/>
          </a:prstGeom>
          <a:solidFill>
            <a:srgbClr val="35BCC8"/>
          </a:solidFill>
          <a:ln/>
        </p:spPr>
      </p:sp>
      <p:sp>
        <p:nvSpPr>
          <p:cNvPr id="15" name="Shape 12"/>
          <p:cNvSpPr/>
          <p:nvPr/>
        </p:nvSpPr>
        <p:spPr>
          <a:xfrm>
            <a:off x="10972526" y="1371600"/>
            <a:ext cx="1219170" cy="1371600"/>
          </a:xfrm>
          <a:prstGeom prst="rect">
            <a:avLst/>
          </a:prstGeom>
          <a:solidFill>
            <a:srgbClr val="0B1D30"/>
          </a:solidFill>
          <a:ln/>
        </p:spPr>
      </p:sp>
      <p:sp>
        <p:nvSpPr>
          <p:cNvPr id="16" name="Shape 13"/>
          <p:cNvSpPr/>
          <p:nvPr/>
        </p:nvSpPr>
        <p:spPr>
          <a:xfrm>
            <a:off x="8534187" y="27432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609585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0" y="1371600"/>
                </a:lnTo>
                <a:lnTo>
                  <a:pt x="0" y="609600"/>
                </a:lnTo>
                <a:arcTo hR="609600" wR="609585" stAng="10800000" swAng="5400000"/>
                <a:close/>
              </a:path>
            </a:pathLst>
          </a:custGeom>
          <a:solidFill>
            <a:srgbClr val="FF7A5C"/>
          </a:solidFill>
          <a:ln/>
        </p:spPr>
      </p:sp>
      <p:sp>
        <p:nvSpPr>
          <p:cNvPr id="17" name="Shape 14"/>
          <p:cNvSpPr/>
          <p:nvPr/>
        </p:nvSpPr>
        <p:spPr>
          <a:xfrm>
            <a:off x="9753356" y="2743200"/>
            <a:ext cx="1219170" cy="1371600"/>
          </a:xfrm>
          <a:prstGeom prst="rect">
            <a:avLst/>
          </a:prstGeom>
          <a:solidFill>
            <a:srgbClr val="0B1D30"/>
          </a:solidFill>
          <a:ln/>
        </p:spPr>
      </p:sp>
      <p:sp>
        <p:nvSpPr>
          <p:cNvPr id="18" name="Shape 15"/>
          <p:cNvSpPr/>
          <p:nvPr/>
        </p:nvSpPr>
        <p:spPr>
          <a:xfrm>
            <a:off x="10972526" y="27432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762000"/>
                </a:lnTo>
                <a:arcTo hR="609600" wR="609585" stAng="0" swAng="5400000"/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5BCC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34187" y="4114800"/>
            <a:ext cx="1219170" cy="1371600"/>
          </a:xfrm>
          <a:prstGeom prst="rect">
            <a:avLst/>
          </a:prstGeom>
          <a:solidFill>
            <a:srgbClr val="0B1D30"/>
          </a:solidFill>
          <a:ln/>
        </p:spPr>
      </p:sp>
      <p:sp>
        <p:nvSpPr>
          <p:cNvPr id="20" name="Shape 17"/>
          <p:cNvSpPr/>
          <p:nvPr/>
        </p:nvSpPr>
        <p:spPr>
          <a:xfrm>
            <a:off x="9753356" y="41148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762000"/>
                </a:lnTo>
                <a:arcTo hR="609600" wR="609585" stAng="0" swAng="5400000"/>
                <a:lnTo>
                  <a:pt x="609585" y="1371600"/>
                </a:lnTo>
                <a:arcTo hR="609600" wR="609585" stAng="5400000" swAng="5400000"/>
                <a:lnTo>
                  <a:pt x="0" y="0"/>
                </a:lnTo>
                <a:close/>
              </a:path>
            </a:pathLst>
          </a:custGeom>
          <a:solidFill>
            <a:srgbClr val="15324B"/>
          </a:solidFill>
          <a:ln/>
        </p:spPr>
      </p:sp>
      <p:sp>
        <p:nvSpPr>
          <p:cNvPr id="21" name="Shape 18"/>
          <p:cNvSpPr/>
          <p:nvPr/>
        </p:nvSpPr>
        <p:spPr>
          <a:xfrm>
            <a:off x="10972526" y="4114800"/>
            <a:ext cx="1219170" cy="1371600"/>
          </a:xfrm>
          <a:prstGeom prst="rect">
            <a:avLst/>
          </a:prstGeom>
          <a:solidFill>
            <a:srgbClr val="FF7A5C"/>
          </a:solidFill>
          <a:ln/>
        </p:spPr>
      </p:sp>
      <p:sp>
        <p:nvSpPr>
          <p:cNvPr id="22" name="Shape 19"/>
          <p:cNvSpPr/>
          <p:nvPr/>
        </p:nvSpPr>
        <p:spPr>
          <a:xfrm>
            <a:off x="8534187" y="54864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609585" y="0"/>
                </a:lnTo>
                <a:arcTo hR="609600" wR="609585" stAng="16200000" swAng="5400000"/>
                <a:lnTo>
                  <a:pt x="121917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35BCC8"/>
          </a:solidFill>
          <a:ln/>
        </p:spPr>
      </p:sp>
      <p:sp>
        <p:nvSpPr>
          <p:cNvPr id="23" name="Shape 20"/>
          <p:cNvSpPr/>
          <p:nvPr/>
        </p:nvSpPr>
        <p:spPr>
          <a:xfrm>
            <a:off x="9753356" y="54864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609585" y="1371600"/>
                </a:lnTo>
                <a:arcTo hR="609600" wR="609585" stAng="5400000" swAng="5400000"/>
                <a:lnTo>
                  <a:pt x="0" y="0"/>
                </a:lnTo>
                <a:close/>
              </a:path>
            </a:pathLst>
          </a:custGeom>
          <a:solidFill>
            <a:srgbClr val="FF7A5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972526" y="5486400"/>
            <a:ext cx="1219170" cy="1371600"/>
          </a:xfrm>
          <a:prstGeom prst="rect">
            <a:avLst/>
          </a:prstGeom>
          <a:solidFill>
            <a:srgbClr val="0B1D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64185"/>
            <a:ext cx="477508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PROJECT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50503"/>
            <a:ext cx="4368691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42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Delivery is more than writing the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730573"/>
            <a:ext cx="1066773" cy="76200"/>
          </a:xfrm>
          <a:prstGeom prst="roundRect">
            <a:avLst>
              <a:gd name="adj" fmla="val 49999"/>
            </a:avLst>
          </a:prstGeom>
          <a:solidFill>
            <a:srgbClr val="35BCC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032198"/>
            <a:ext cx="4368691" cy="185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TaskBoard is a full-stack web application built to create, retrieve, update, and delete tasks. While CRUD functionality completes the software contract, production reality requires solved operational mechanics.</a:t>
            </a:r>
            <a:endParaRPr lang="en-US" sz="13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developer commit must survive rigorous packaging, policy enforcement, orchestration manifests, and automated runtime reconciliation before it is fit for users.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987" y="5956697"/>
            <a:ext cx="4368691" cy="31651"/>
          </a:xfrm>
          <a:prstGeom prst="roundRect">
            <a:avLst>
              <a:gd name="adj" fmla="val 49998"/>
            </a:avLst>
          </a:prstGeom>
          <a:solidFill>
            <a:srgbClr val="E4EEF2">
              <a:alpha val="2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6217523"/>
            <a:ext cx="477508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TaskBoard Capstone Architecture Review · System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89458" y="406400"/>
            <a:ext cx="5994250" cy="2176562"/>
          </a:xfrm>
          <a:custGeom>
            <a:avLst/>
            <a:gdLst/>
            <a:ahLst/>
            <a:cxnLst/>
            <a:rect l="l" t="t" r="r" b="b"/>
            <a:pathLst>
              <a:path w="5994250" h="2176562">
                <a:moveTo>
                  <a:pt x="0" y="0"/>
                </a:moveTo>
                <a:lnTo>
                  <a:pt x="5638659" y="0"/>
                </a:lnTo>
                <a:arcTo hR="355600" wR="355591" stAng="16200000" swAng="5400000"/>
                <a:lnTo>
                  <a:pt x="5994250" y="2176562"/>
                </a:lnTo>
                <a:lnTo>
                  <a:pt x="0" y="2176562"/>
                </a:lnTo>
                <a:lnTo>
                  <a:pt x="0" y="0"/>
                </a:lnTo>
                <a:close/>
              </a:path>
            </a:pathLst>
          </a:custGeom>
          <a:solidFill>
            <a:srgbClr val="15324B"/>
          </a:solidFill>
          <a:ln/>
        </p:spPr>
      </p:sp>
      <p:sp>
        <p:nvSpPr>
          <p:cNvPr id="9" name="Text 7"/>
          <p:cNvSpPr/>
          <p:nvPr/>
        </p:nvSpPr>
        <p:spPr>
          <a:xfrm>
            <a:off x="5943451" y="616585"/>
            <a:ext cx="574025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ENGINEERING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451" y="882006"/>
            <a:ext cx="548626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E4EEF2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Operational Friction in Manual Delivery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451" y="1278315"/>
            <a:ext cx="548626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Eliminating manual interventions, configuration drift between environments, untracked artifact builds, and late-discovered vulnerabilities through declarative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9458" y="2887762"/>
            <a:ext cx="5994250" cy="3563838"/>
          </a:xfrm>
          <a:prstGeom prst="rect">
            <a:avLst/>
          </a:prstGeom>
          <a:noFill/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9801" y="3104297"/>
            <a:ext cx="573390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CORE PROJECT PILLARS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9801" y="3468143"/>
            <a:ext cx="266048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Automation &amp; Tests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9801" y="3864451"/>
            <a:ext cx="266048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Continuous testing and security validation wired to every commit via GitHub Actions.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62682" y="3468143"/>
            <a:ext cx="266058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Portability &amp; Images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62682" y="3864451"/>
            <a:ext cx="266058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Isolated multi-stage container builds published to GHCR with deterministic commit SHAs.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9801" y="4744195"/>
            <a:ext cx="266048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Declarative Charts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9801" y="5140504"/>
            <a:ext cx="266048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packaging to structure deployments, services, namespaces, and PVC manifests.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62682" y="4744195"/>
            <a:ext cx="266058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GitOps Alignment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62682" y="5140504"/>
            <a:ext cx="266058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Continuous state synchronization and automated drift reconciliation using Argo CD.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76718" y="0"/>
            <a:ext cx="12700" cy="6858000"/>
          </a:xfrm>
          <a:prstGeom prst="rect">
            <a:avLst/>
          </a:prstGeom>
          <a:solidFill>
            <a:srgbClr val="E4EEF2">
              <a:alpha val="2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873806" y="6465689"/>
            <a:ext cx="317889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3385"/>
            <a:ext cx="116837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ARCHITECTURE TOPOLOGY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99703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42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Two flows: request path and delivery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48172"/>
            <a:ext cx="5435464" cy="3797102"/>
          </a:xfrm>
          <a:custGeom>
            <a:avLst/>
            <a:gdLst/>
            <a:ahLst/>
            <a:cxnLst/>
            <a:rect l="l" t="t" r="r" b="b"/>
            <a:pathLst>
              <a:path w="5435464" h="3797102">
                <a:moveTo>
                  <a:pt x="0" y="0"/>
                </a:moveTo>
                <a:lnTo>
                  <a:pt x="5079873" y="0"/>
                </a:lnTo>
                <a:arcTo hR="355600" wR="355591" stAng="16200000" swAng="5400000"/>
                <a:lnTo>
                  <a:pt x="5435464" y="3797102"/>
                </a:lnTo>
                <a:lnTo>
                  <a:pt x="0" y="3797102"/>
                </a:lnTo>
                <a:lnTo>
                  <a:pt x="0" y="0"/>
                </a:lnTo>
                <a:close/>
              </a:path>
            </a:pathLst>
          </a:custGeom>
          <a:solidFill>
            <a:srgbClr val="0B1D30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1509157"/>
            <a:ext cx="518147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RUNTIME · REQUEST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1981" y="1779847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From browser to database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981" y="2227263"/>
            <a:ext cx="49274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User/browser → React frontend on Nginx → /api reverse proxy → FastAPI backend → PostgreSQL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981" y="2899251"/>
            <a:ext cx="518147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Alembic migrations · Frontend and backend separately containerized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8244" y="1248172"/>
            <a:ext cx="5435464" cy="3797102"/>
          </a:xfrm>
          <a:custGeom>
            <a:avLst/>
            <a:gdLst/>
            <a:ahLst/>
            <a:cxnLst/>
            <a:rect l="l" t="t" r="r" b="b"/>
            <a:pathLst>
              <a:path w="5435464" h="3797102">
                <a:moveTo>
                  <a:pt x="0" y="0"/>
                </a:moveTo>
                <a:lnTo>
                  <a:pt x="5435464" y="0"/>
                </a:lnTo>
                <a:lnTo>
                  <a:pt x="5435464" y="3797102"/>
                </a:lnTo>
                <a:lnTo>
                  <a:pt x="355591" y="3797102"/>
                </a:lnTo>
                <a:arcTo hR="355600" wR="355591" stAng="5400000" swAng="5400000"/>
                <a:lnTo>
                  <a:pt x="0" y="0"/>
                </a:lnTo>
                <a:close/>
              </a:path>
            </a:pathLst>
          </a:custGeom>
          <a:solidFill>
            <a:srgbClr val="0B1D30"/>
          </a:solidFill>
          <a:ln/>
        </p:spPr>
      </p:sp>
      <p:sp>
        <p:nvSpPr>
          <p:cNvPr id="10" name="Text 8"/>
          <p:cNvSpPr/>
          <p:nvPr/>
        </p:nvSpPr>
        <p:spPr>
          <a:xfrm>
            <a:off x="6502237" y="1509157"/>
            <a:ext cx="518147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DELIVERY · TWO DISTINCT CLUSTERS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2237" y="1779847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CI workflow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2237" y="2227263"/>
            <a:ext cx="492747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Developer → GitHub repository → GitHub Actions → tests and security checks → Docker builds → GHCR → Helm → workflow's temporary Kind cluster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02237" y="3216275"/>
            <a:ext cx="4927378" cy="31651"/>
          </a:xfrm>
          <a:prstGeom prst="roundRect">
            <a:avLst>
              <a:gd name="adj" fmla="val 49998"/>
            </a:avLst>
          </a:prstGeom>
          <a:solidFill>
            <a:srgbClr val="E4EEF2">
              <a:alpha val="2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02237" y="3488592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spc="-11" kern="100" dirty="0">
                <a:solidFill>
                  <a:srgbClr val="FFFFFF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GitOps path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02237" y="3936008"/>
            <a:ext cx="49274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repository + Helm chart → Argo CD → local Kind cluster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2237" y="4607997"/>
            <a:ext cx="518147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never deploys into the local cluster.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75195" y="6465689"/>
            <a:ext cx="316500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8016"/>
            <a:ext cx="11683708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0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SYSTEM 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14366"/>
            <a:ext cx="11175720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750" b="1" spc="-41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A layered stack, each tool with one job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07987" y="1151434"/>
            <a:ext cx="3521979" cy="2749848"/>
          </a:xfrm>
          <a:custGeom>
            <a:avLst/>
            <a:gdLst/>
            <a:ahLst/>
            <a:cxnLst/>
            <a:rect l="l" t="t" r="r" b="b"/>
            <a:pathLst>
              <a:path w="3521979" h="2749848">
                <a:moveTo>
                  <a:pt x="0" y="0"/>
                </a:moveTo>
                <a:lnTo>
                  <a:pt x="3166388" y="0"/>
                </a:lnTo>
                <a:arcTo hR="355600" wR="355591" stAng="16200000" swAng="5400000"/>
                <a:lnTo>
                  <a:pt x="3521979" y="2749848"/>
                </a:lnTo>
                <a:lnTo>
                  <a:pt x="0" y="2749848"/>
                </a:lnTo>
                <a:lnTo>
                  <a:pt x="0" y="0"/>
                </a:lnTo>
                <a:close/>
              </a:path>
            </a:pathLst>
          </a:custGeom>
          <a:solidFill>
            <a:srgbClr val="15324B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1656534"/>
            <a:ext cx="3293385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0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82" y="1918804"/>
            <a:ext cx="3064791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1" kern="100" dirty="0">
                <a:solidFill>
                  <a:srgbClr val="E4EEF2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React UI · Vite · Nginx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36582" y="2402979"/>
            <a:ext cx="507888" cy="38100"/>
          </a:xfrm>
          <a:prstGeom prst="roundRect">
            <a:avLst>
              <a:gd name="adj" fmla="val 49999"/>
            </a:avLst>
          </a:prstGeom>
          <a:solidFill>
            <a:srgbClr val="FF7A5C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2597944"/>
            <a:ext cx="3064791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React UI and Vite asset builds; Nginx serves static files and proxies API requests.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4759" y="1151434"/>
            <a:ext cx="3522078" cy="2749848"/>
          </a:xfrm>
          <a:prstGeom prst="rect">
            <a:avLst/>
          </a:prstGeom>
          <a:solidFill>
            <a:srgbClr val="15324B"/>
          </a:solidFill>
          <a:ln/>
        </p:spPr>
      </p:sp>
      <p:sp>
        <p:nvSpPr>
          <p:cNvPr id="10" name="Text 8"/>
          <p:cNvSpPr/>
          <p:nvPr/>
        </p:nvSpPr>
        <p:spPr>
          <a:xfrm>
            <a:off x="4563353" y="1387850"/>
            <a:ext cx="3293484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0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63353" y="1650120"/>
            <a:ext cx="3064890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1" kern="100" dirty="0">
                <a:solidFill>
                  <a:srgbClr val="E4EEF2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Python · FastAPI</a:t>
            </a:r>
            <a:endParaRPr lang="en-US" sz="2150" dirty="0"/>
          </a:p>
        </p:txBody>
      </p:sp>
      <p:sp>
        <p:nvSpPr>
          <p:cNvPr id="12" name="Shape 10"/>
          <p:cNvSpPr/>
          <p:nvPr/>
        </p:nvSpPr>
        <p:spPr>
          <a:xfrm>
            <a:off x="4563353" y="213429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35BCC8"/>
          </a:solidFill>
          <a:ln/>
        </p:spPr>
      </p:sp>
      <p:sp>
        <p:nvSpPr>
          <p:cNvPr id="13" name="Text 11"/>
          <p:cNvSpPr/>
          <p:nvPr/>
        </p:nvSpPr>
        <p:spPr>
          <a:xfrm>
            <a:off x="4563353" y="2329259"/>
            <a:ext cx="3064890" cy="1343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FastAPI REST API with Pydantic-style schemas where implemented; SQLAlchemy with PostgreSQL; Alembic migrations; Pytest API tests.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61629" y="1151434"/>
            <a:ext cx="3522078" cy="2749848"/>
          </a:xfrm>
          <a:custGeom>
            <a:avLst/>
            <a:gdLst/>
            <a:ahLst/>
            <a:cxnLst/>
            <a:rect l="l" t="t" r="r" b="b"/>
            <a:pathLst>
              <a:path w="3522078" h="2749848">
                <a:moveTo>
                  <a:pt x="0" y="0"/>
                </a:moveTo>
                <a:lnTo>
                  <a:pt x="3522078" y="0"/>
                </a:lnTo>
                <a:lnTo>
                  <a:pt x="3522078" y="2749848"/>
                </a:lnTo>
                <a:lnTo>
                  <a:pt x="355591" y="2749848"/>
                </a:lnTo>
                <a:arcTo hR="355600" wR="355591" stAng="5400000" swAng="5400000"/>
                <a:lnTo>
                  <a:pt x="0" y="0"/>
                </a:lnTo>
                <a:close/>
              </a:path>
            </a:pathLst>
          </a:custGeom>
          <a:solidFill>
            <a:srgbClr val="153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390224" y="1522192"/>
            <a:ext cx="3293484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0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90224" y="1784462"/>
            <a:ext cx="3064890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spc="-11" kern="100" dirty="0">
                <a:solidFill>
                  <a:srgbClr val="E4EEF2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Build · Deploy · Operate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8390224" y="2268637"/>
            <a:ext cx="507888" cy="38100"/>
          </a:xfrm>
          <a:prstGeom prst="roundRect">
            <a:avLst>
              <a:gd name="adj" fmla="val 49999"/>
            </a:avLst>
          </a:prstGeom>
          <a:solidFill>
            <a:srgbClr val="153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390224" y="2463602"/>
            <a:ext cx="3064890" cy="107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Docker · GitHub Actions · GHCR · Kubernetes · Helm · Argo CD · Trivy · the workflow's configured security tools.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7987" y="4072533"/>
            <a:ext cx="6522577" cy="2981325"/>
          </a:xfrm>
          <a:prstGeom prst="rect">
            <a:avLst/>
          </a:prstGeom>
          <a:noFill/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34" y="4205883"/>
            <a:ext cx="4825879" cy="27146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35257" y="5334276"/>
            <a:ext cx="4348451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0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SECONDARY VIEW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35257" y="5620891"/>
            <a:ext cx="434845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spc="11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TaskPulse application running through Kubernetes.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71623" y="6465689"/>
            <a:ext cx="32007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4569"/>
            <a:ext cx="11683708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CONTAINER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87" y="531832"/>
            <a:ext cx="1117572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b="1" spc="-31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Containers make each component portable and traceable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7987" y="905706"/>
            <a:ext cx="11683708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Multi-stage Docker builds keep TaskBoard images minimal and secure: compilers and package managers never ship into the production runtime.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87" y="1183980"/>
            <a:ext cx="3725174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 · BUILD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87" y="1369965"/>
            <a:ext cx="3496580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50" spc="-8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Node.js build stage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07987" y="1679720"/>
            <a:ext cx="349658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Installs dependencies with 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and runs Vite production compilation, generating optimized, minified static artifacts.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61756" y="1183980"/>
            <a:ext cx="3496679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 · RUNTIME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61756" y="1369965"/>
            <a:ext cx="3268085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50" spc="-8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Nginx serves the app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61756" y="1679720"/>
            <a:ext cx="3268085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Nginx Alpine receives compiled static files and custom proxy configuration, serves the files, and proxies the API. Node runtime is excluded.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87029" y="1183980"/>
            <a:ext cx="3496679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87029" y="1369965"/>
            <a:ext cx="3496679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50" spc="-8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Separately built Python API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87029" y="1679720"/>
            <a:ext cx="3496679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Python slim image bundles FastAPI, dependencies, Alembic scripts, and database drivers.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987" y="2242744"/>
            <a:ext cx="11683708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PUBLISH · IMMUTABLE GHCR TAGS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87" y="2475454"/>
            <a:ext cx="11683708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Images are published to GHCR tagged with the Git commit SHA (e.g. 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:sha-4b2a8f1</a:t>
            </a:r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), giving an unbroken audit trail from running Kubernetes pods back to the exact source commit.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987" y="2724348"/>
            <a:ext cx="5435464" cy="3174206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34" y="2857698"/>
            <a:ext cx="5168771" cy="290750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48244" y="2724348"/>
            <a:ext cx="5435464" cy="3174206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1590" y="2862067"/>
            <a:ext cx="5302117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98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 GHCR CAPTURE PENDING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7987" y="5996682"/>
            <a:ext cx="11175720" cy="616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800" spc="8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 container image published to GHCR</a:t>
            </a:r>
            <a:endParaRPr lang="en-US" sz="800" dirty="0"/>
          </a:p>
          <a:p>
            <a:pPr algn="l" indent="0" marL="0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800" spc="8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 container image published to GHCR</a:t>
            </a:r>
            <a:endParaRPr lang="en-US" sz="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800" b="1" spc="8" kern="100" dirty="0">
                <a:solidFill>
                  <a:srgbClr val="9DB4C1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Sequence:</a:t>
            </a:r>
            <a:pPr algn="l" indent="0" marL="0">
              <a:lnSpc>
                <a:spcPct val="113000"/>
              </a:lnSpc>
              <a:buNone/>
            </a:pPr>
            <a:r>
              <a:rPr lang="en-US" sz="800" spc="8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source code → Docker build → tagged images → GHCR → Kubernetes deployment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7987" y="6714426"/>
            <a:ext cx="11683708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spc="8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OCI Packaging Standard · GitHub Container Registry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226811" y="1179612"/>
            <a:ext cx="12700" cy="960636"/>
          </a:xfrm>
          <a:prstGeom prst="rect">
            <a:avLst/>
          </a:prstGeom>
          <a:solidFill>
            <a:srgbClr val="E4EEF2">
              <a:alpha val="26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952085" y="1179612"/>
            <a:ext cx="12700" cy="960636"/>
          </a:xfrm>
          <a:prstGeom prst="rect">
            <a:avLst/>
          </a:prstGeom>
          <a:solidFill>
            <a:srgbClr val="E4EEF2">
              <a:alpha val="2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876584" y="6465689"/>
            <a:ext cx="31511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81078"/>
            <a:ext cx="11632909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106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DEVSECOPS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86" y="498944"/>
            <a:ext cx="11074123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spc="-34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Failed gates stop the pipeline before deployment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58786" y="914992"/>
            <a:ext cx="11632909" cy="1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runs tests and code validation, then applies configured security gates before image publication and Helm deployment to the workflow's temporary Kind environment.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198066"/>
            <a:ext cx="381983" cy="381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786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spc="-7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CI checks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8786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Push or workflow dispatch; tests and code validation.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15" y="1198066"/>
            <a:ext cx="381983" cy="3819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3515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spc="-7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Security validation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403515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CodeQL, dependency scanning, and secret scanning (as configured in the repository).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198066"/>
            <a:ext cx="381983" cy="3819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8244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spc="-7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Image publishing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48244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 and backend builds; Trivy severity-based failure gate; push to GHCR.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973" y="1198066"/>
            <a:ext cx="381983" cy="3819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92973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spc="-7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092973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deploy into the workflow's temporary Kind environment.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58786" y="2457648"/>
            <a:ext cx="7179488" cy="4357390"/>
          </a:xfrm>
          <a:prstGeom prst="rect">
            <a:avLst/>
          </a:prstGeom>
          <a:solidFill>
            <a:srgbClr val="0B1D30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33" y="2590998"/>
            <a:ext cx="6912794" cy="38884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2133" y="6530756"/>
            <a:ext cx="7046141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spc="9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— latest workflow run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8043066" y="2457648"/>
            <a:ext cx="3589843" cy="4357390"/>
          </a:xfrm>
          <a:custGeom>
            <a:avLst/>
            <a:gdLst/>
            <a:ahLst/>
            <a:cxnLst/>
            <a:rect l="l" t="t" r="r" b="b"/>
            <a:pathLst>
              <a:path w="3589843" h="4357390">
                <a:moveTo>
                  <a:pt x="0" y="0"/>
                </a:moveTo>
                <a:lnTo>
                  <a:pt x="3234252" y="0"/>
                </a:lnTo>
                <a:arcTo hR="355600" wR="355591" stAng="16200000" swAng="5400000"/>
                <a:lnTo>
                  <a:pt x="3589843" y="4357390"/>
                </a:lnTo>
                <a:lnTo>
                  <a:pt x="0" y="4357390"/>
                </a:lnTo>
                <a:lnTo>
                  <a:pt x="0" y="0"/>
                </a:lnTo>
                <a:close/>
              </a:path>
            </a:pathLst>
          </a:custGeom>
          <a:solidFill>
            <a:srgbClr val="0B1D30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462" y="2584648"/>
            <a:ext cx="3285051" cy="296495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95462" y="5600878"/>
            <a:ext cx="34374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spc="9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Trivy — container image security scan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195462" y="5878222"/>
            <a:ext cx="328505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spc="-7" kern="100" dirty="0">
                <a:solidFill>
                  <a:srgbClr val="FFFFFF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Strict Downstream Blocking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8195462" y="6173288"/>
            <a:ext cx="328505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Failed quality or security gates block downstream stages where configured, catching problems before deployment.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1873211" y="6465689"/>
            <a:ext cx="31848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738"/>
            <a:ext cx="11683708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109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ORCHESTRATION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87" y="560032"/>
            <a:ext cx="11175720" cy="31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00" b="1" spc="-35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Helm organizes TaskBoard into Kubernetes resources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7987" y="974030"/>
            <a:ext cx="6160239" cy="5608340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532" y="1158718"/>
            <a:ext cx="595069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109" kern="100" dirty="0">
                <a:solidFill>
                  <a:srgbClr val="E4EEF2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ACTIVE CHART WORKLOADS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7532" y="1386582"/>
            <a:ext cx="5741149" cy="13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Frontend Deployment &amp; ClusterIP Service</a:t>
            </a:r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Frontend Deployment and Pods; ClusterIP Service for internal networking and discovery.</a:t>
            </a:r>
            <a:endParaRPr lang="en-US" sz="1250" dirty="0"/>
          </a:p>
          <a:p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Backend Deployment &amp; ClusterIP Service</a:t>
            </a:r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Backend Deployment and Pods; ClusterIP Service for internal networking and discovery.</a:t>
            </a:r>
            <a:endParaRPr lang="en-US" sz="1250" dirty="0"/>
          </a:p>
          <a:p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PostgreSQL &amp; PersistentVolumeClaim</a:t>
            </a:r>
            <a:pPr algn="l" marL="254000" indent="-2540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PostgreSQL deployment with PersistentVolumeClaim storage where configured.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32" y="2885777"/>
            <a:ext cx="5741149" cy="32294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532" y="6242248"/>
            <a:ext cx="595069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9" kern="1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Kubernetes workloads, Services and PostgreSQL storage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972919" y="974030"/>
            <a:ext cx="4710788" cy="5608340"/>
          </a:xfrm>
          <a:custGeom>
            <a:avLst/>
            <a:gdLst/>
            <a:ahLst/>
            <a:cxnLst/>
            <a:rect l="l" t="t" r="r" b="b"/>
            <a:pathLst>
              <a:path w="4710788" h="5608340">
                <a:moveTo>
                  <a:pt x="0" y="0"/>
                </a:moveTo>
                <a:lnTo>
                  <a:pt x="4710788" y="0"/>
                </a:lnTo>
                <a:lnTo>
                  <a:pt x="4710788" y="5608340"/>
                </a:lnTo>
                <a:lnTo>
                  <a:pt x="355591" y="5608340"/>
                </a:lnTo>
                <a:arcTo hR="355600" wR="355591" stAng="5400000" swAng="5400000"/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82464" y="1158718"/>
            <a:ext cx="450124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109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HELM TEMPLATES &amp; VALUES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82464" y="1393731"/>
            <a:ext cx="4291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Image tags, replica settings, and health/readiness checks and resource settings only as present in the manifests.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82464" y="1876070"/>
            <a:ext cx="450124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109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OPTIONAL FEATURES (NOT CLAIMED AS ENABLED)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82464" y="2111082"/>
            <a:ext cx="45012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Ingress, Horizontal Pod Autoscaling, and Prometheus ServiceMonitor.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464" y="2462709"/>
            <a:ext cx="4291699" cy="37252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82464" y="6242248"/>
            <a:ext cx="450124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9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chart validation — no lint failures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07987" y="6704013"/>
            <a:ext cx="1168370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spc="9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Namespaces organize resources; PostgreSQL storage uses a PersistentVolumeClaim where configured.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874897" y="6465689"/>
            <a:ext cx="316798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7185"/>
            <a:ext cx="116837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CONTINUOUS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23503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42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Git holds desired state; Argo CD reconciles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71972"/>
            <a:ext cx="7247252" cy="4549378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33" y="1330722"/>
            <a:ext cx="6929760" cy="39639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6733" y="5379323"/>
            <a:ext cx="708850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Argo CD — taskboard-gitops is Synced and Healthy.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61629" y="1255157"/>
            <a:ext cx="352207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GITOPS FLOW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61629" y="1546106"/>
            <a:ext cx="352207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 repository → Helm chart → Argo CD Application → Kubernetes resources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61629" y="2183011"/>
            <a:ext cx="3521979" cy="31651"/>
          </a:xfrm>
          <a:prstGeom prst="roundRect">
            <a:avLst>
              <a:gd name="adj" fmla="val 49998"/>
            </a:avLst>
          </a:prstGeom>
          <a:solidFill>
            <a:srgbClr val="E4EEF2">
              <a:alpha val="2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161629" y="2450059"/>
            <a:ext cx="352207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Local demo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61629" y="2844304"/>
            <a:ext cx="3522078" cy="181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Kind cluster; Argo CD runs in its own 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argocd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namespace. The 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taskboard-gitops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Application targets 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helm/taskboard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; resources go to a separate 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taskboard-gitops</a:t>
            </a:r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namespace.</a:t>
            </a:r>
            <a:endParaRPr lang="en-US" sz="13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Sync status compares Git with live state; health status reports resource condition. Declarative configuration improves repeatability.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61629" y="4848474"/>
            <a:ext cx="352207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Separate clusters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61629" y="5244783"/>
            <a:ext cx="352207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Argo CD local Kind cluster is separate from the CI workflow's temporary Kind deployment.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74501" y="6465689"/>
            <a:ext cx="31719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09149"/>
            <a:ext cx="11683708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84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VERIFICATION MATRIX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7987" y="472694"/>
            <a:ext cx="1117572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spc="-27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Evidence: what each screenshot proves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780967"/>
            <a:ext cx="1168370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Each required deliverable is mapped directly to concrete verification evidence confirming end-to-end operational readiness.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7987" y="975916"/>
            <a:ext cx="3521979" cy="2097782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34" y="1109266"/>
            <a:ext cx="3255286" cy="1831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3122827"/>
            <a:ext cx="3521979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 Do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34759" y="975916"/>
            <a:ext cx="3522078" cy="2097881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105" y="1109266"/>
            <a:ext cx="3255385" cy="18311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4759" y="3122927"/>
            <a:ext cx="352207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8161629" y="975916"/>
            <a:ext cx="3522078" cy="2097881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976" y="1109266"/>
            <a:ext cx="3255385" cy="18311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61629" y="3122927"/>
            <a:ext cx="352207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07987" y="3317875"/>
            <a:ext cx="5435464" cy="3174206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34" y="3451225"/>
            <a:ext cx="5168771" cy="29075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987" y="6541211"/>
            <a:ext cx="5435464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 API tests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6248244" y="3317875"/>
            <a:ext cx="5435464" cy="3174206"/>
          </a:xfrm>
          <a:prstGeom prst="rect">
            <a:avLst/>
          </a:prstGeom>
          <a:solidFill>
            <a:srgbClr val="15324B"/>
          </a:solidFill>
          <a:ln w="6350">
            <a:solidFill>
              <a:srgbClr val="E4EEF2">
                <a:alpha val="26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590" y="3451225"/>
            <a:ext cx="5168771" cy="290750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8244" y="6541211"/>
            <a:ext cx="5435464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5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Kubernetes health and API verification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507987" y="6739393"/>
            <a:ext cx="11683708" cy="12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spc="7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Evaluation Artifacts: Verified on local demonstration environment and GitHub repository logs.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11873012" y="6465689"/>
            <a:ext cx="31868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38785"/>
            <a:ext cx="55878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RETROSPECTIVE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103"/>
            <a:ext cx="518147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b="1" spc="-42" kern="100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Lessons, honest scope and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705173"/>
            <a:ext cx="1066773" cy="76200"/>
          </a:xfrm>
          <a:prstGeom prst="roundRect">
            <a:avLst>
              <a:gd name="adj" fmla="val 49999"/>
            </a:avLst>
          </a:prstGeom>
          <a:solidFill>
            <a:srgbClr val="35BCC8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177009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Engineering Lessons Learned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2571254"/>
            <a:ext cx="518147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Proxy hostnames: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Align frontend proxy hostnames with Kubernetes Service names.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Helm naming: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Understand Helm release names versus generated resource names.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Connectivity: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Address intermittent DNS and repository connectivity.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E4EEF2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Cluster separation:</a:t>
            </a:r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Keep CI's temporary cluster separate from the Argo CD deployment.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7987" y="5655866"/>
            <a:ext cx="5181470" cy="31651"/>
          </a:xfrm>
          <a:prstGeom prst="roundRect">
            <a:avLst>
              <a:gd name="adj" fmla="val 49998"/>
            </a:avLst>
          </a:prstGeom>
          <a:solidFill>
            <a:srgbClr val="E4EEF2">
              <a:alpha val="2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7987" y="5916692"/>
            <a:ext cx="518147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100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Conclusion: The project connects application development to automated quality and security checks, container image delivery, Kubernetes deployment and GitOps management.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02237" y="438785"/>
            <a:ext cx="568945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132" kern="10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PRODUCTION ROADMAPPING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02237" y="704206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Honest Current 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2237" y="1098451"/>
            <a:ext cx="518147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 AWS deployment is provisioned; any Terraform is infrastructure code only, not applied.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Ingress, autoscaling and Prometheus are optional unless verified.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Move credentials out of plaintext manifests into Kubernetes Secrets or similar; never show values.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2237" y="3021262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spc="-9" kern="100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Next Production Milestones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2237" y="3415506"/>
            <a:ext cx="5181470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Validated configuration reconciliation and stronger secret management.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Tested autoscaling.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Prometheus/Grafana dashboards and alerting.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E4EEF2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Validation on hosted Kubernetes.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498" y="0"/>
            <a:ext cx="12700" cy="6858000"/>
          </a:xfrm>
          <a:prstGeom prst="rect">
            <a:avLst/>
          </a:prstGeom>
          <a:solidFill>
            <a:srgbClr val="E4EEF2">
              <a:alpha val="2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888788" y="6465689"/>
            <a:ext cx="302907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spc="38" kern="100" dirty="0">
                <a:solidFill>
                  <a:srgbClr val="E4EEF2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2026-10-14T08:08:05Z</dcterms:created>
  <dcterms:modified xsi:type="dcterms:W3CDTF">2026-10-14T08:08:05Z</dcterms:modified>
</cp:coreProperties>
</file>